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4"/>
  </p:sldMasterIdLst>
  <p:notesMasterIdLst>
    <p:notesMasterId r:id="rId23"/>
  </p:notesMasterIdLst>
  <p:sldIdLst>
    <p:sldId id="257" r:id="rId5"/>
    <p:sldId id="266" r:id="rId6"/>
    <p:sldId id="267" r:id="rId7"/>
    <p:sldId id="263" r:id="rId8"/>
    <p:sldId id="264" r:id="rId9"/>
    <p:sldId id="271" r:id="rId10"/>
    <p:sldId id="258" r:id="rId11"/>
    <p:sldId id="260" r:id="rId12"/>
    <p:sldId id="259" r:id="rId13"/>
    <p:sldId id="262" r:id="rId14"/>
    <p:sldId id="268" r:id="rId15"/>
    <p:sldId id="275" r:id="rId16"/>
    <p:sldId id="276" r:id="rId17"/>
    <p:sldId id="272" r:id="rId18"/>
    <p:sldId id="277" r:id="rId19"/>
    <p:sldId id="270" r:id="rId20"/>
    <p:sldId id="273" r:id="rId21"/>
    <p:sldId id="27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B02C82-8CCE-4C85-8D71-775E7A38FBA6}" v="57" dt="2024-05-07T13:04:00.1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1961" autoAdjust="0"/>
  </p:normalViewPr>
  <p:slideViewPr>
    <p:cSldViewPr snapToGrid="0">
      <p:cViewPr varScale="1">
        <p:scale>
          <a:sx n="90" d="100"/>
          <a:sy n="90" d="100"/>
        </p:scale>
        <p:origin x="6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B3695-EB3C-485F-A9A5-49A8D78A7F07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E6FDAF-87B1-4FEB-B949-7BEB45A77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517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 err="1"/>
              <a:t>Introduction</a:t>
            </a:r>
            <a:r>
              <a:rPr lang="nb-NO" dirty="0"/>
              <a:t> </a:t>
            </a:r>
          </a:p>
          <a:p>
            <a:endParaRPr lang="nb-NO" dirty="0"/>
          </a:p>
          <a:p>
            <a:r>
              <a:rPr lang="nb-NO" dirty="0" err="1"/>
              <a:t>We</a:t>
            </a:r>
            <a:r>
              <a:rPr lang="nb-NO" dirty="0"/>
              <a:t> </a:t>
            </a:r>
            <a:r>
              <a:rPr lang="nb-NO" dirty="0" err="1"/>
              <a:t>are</a:t>
            </a:r>
            <a:r>
              <a:rPr lang="nb-NO" dirty="0"/>
              <a:t> </a:t>
            </a:r>
            <a:r>
              <a:rPr lang="nb-NO" dirty="0" err="1"/>
              <a:t>presententing</a:t>
            </a:r>
            <a:r>
              <a:rPr lang="nb-NO" dirty="0"/>
              <a:t> </a:t>
            </a:r>
            <a:r>
              <a:rPr lang="nb-NO" dirty="0" err="1"/>
              <a:t>our</a:t>
            </a:r>
            <a:r>
              <a:rPr lang="nb-NO" dirty="0"/>
              <a:t> </a:t>
            </a:r>
            <a:r>
              <a:rPr lang="nb-NO" dirty="0" err="1"/>
              <a:t>project</a:t>
            </a:r>
            <a:r>
              <a:rPr lang="nb-NO" dirty="0"/>
              <a:t> </a:t>
            </a:r>
            <a:r>
              <a:rPr lang="nb-NO" dirty="0" err="1"/>
              <a:t>developing</a:t>
            </a:r>
            <a:r>
              <a:rPr lang="nb-NO" dirty="0"/>
              <a:t> a </a:t>
            </a:r>
            <a:r>
              <a:rPr lang="nb-NO" dirty="0" err="1"/>
              <a:t>compliane</a:t>
            </a:r>
            <a:r>
              <a:rPr lang="nb-NO" dirty="0"/>
              <a:t> </a:t>
            </a:r>
            <a:r>
              <a:rPr lang="nb-NO" dirty="0" err="1"/>
              <a:t>monitoring</a:t>
            </a:r>
            <a:r>
              <a:rPr lang="nb-NO" dirty="0"/>
              <a:t> </a:t>
            </a:r>
            <a:r>
              <a:rPr lang="nb-NO" dirty="0" err="1"/>
              <a:t>static</a:t>
            </a:r>
            <a:r>
              <a:rPr lang="nb-NO" dirty="0"/>
              <a:t> </a:t>
            </a:r>
            <a:r>
              <a:rPr lang="nb-NO" dirty="0" err="1"/>
              <a:t>wrist</a:t>
            </a:r>
            <a:r>
              <a:rPr lang="nb-NO" dirty="0"/>
              <a:t> </a:t>
            </a:r>
            <a:r>
              <a:rPr lang="nb-NO" dirty="0" err="1"/>
              <a:t>orhtosis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E6FDAF-87B1-4FEB-B949-7BEB45A7758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568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 err="1"/>
              <a:t>Introduction</a:t>
            </a:r>
            <a:r>
              <a:rPr lang="nb-NO" dirty="0"/>
              <a:t> to </a:t>
            </a:r>
            <a:r>
              <a:rPr lang="nb-NO" dirty="0" err="1"/>
              <a:t>what</a:t>
            </a:r>
            <a:r>
              <a:rPr lang="nb-NO" dirty="0"/>
              <a:t> an </a:t>
            </a:r>
            <a:r>
              <a:rPr lang="nb-NO" dirty="0" err="1"/>
              <a:t>orthosis</a:t>
            </a:r>
            <a:r>
              <a:rPr lang="nb-NO" dirty="0"/>
              <a:t> is:</a:t>
            </a:r>
          </a:p>
          <a:p>
            <a:endParaRPr lang="nb-NO" dirty="0"/>
          </a:p>
          <a:p>
            <a:r>
              <a:rPr lang="nb-NO" dirty="0"/>
              <a:t>SCRIPT HERE</a:t>
            </a:r>
          </a:p>
          <a:p>
            <a:pPr marL="228600" indent="-228600">
              <a:buAutoNum type="arabicPeriod"/>
            </a:pPr>
            <a:r>
              <a:rPr lang="nb-NO" dirty="0" err="1"/>
              <a:t>What</a:t>
            </a:r>
            <a:r>
              <a:rPr lang="nb-NO" dirty="0"/>
              <a:t> </a:t>
            </a:r>
            <a:r>
              <a:rPr lang="nb-NO" dirty="0" err="1"/>
              <a:t>are</a:t>
            </a:r>
            <a:r>
              <a:rPr lang="nb-NO" dirty="0"/>
              <a:t> </a:t>
            </a:r>
            <a:r>
              <a:rPr lang="nb-NO" dirty="0" err="1"/>
              <a:t>static</a:t>
            </a:r>
            <a:r>
              <a:rPr lang="nb-NO" dirty="0"/>
              <a:t> </a:t>
            </a:r>
            <a:r>
              <a:rPr lang="nb-NO" dirty="0" err="1"/>
              <a:t>orthosis</a:t>
            </a:r>
            <a:r>
              <a:rPr lang="nb-NO" dirty="0"/>
              <a:t> for?</a:t>
            </a:r>
          </a:p>
          <a:p>
            <a:pPr marL="228600" indent="-228600">
              <a:buAutoNum type="arabicPeriod"/>
            </a:pPr>
            <a:r>
              <a:rPr lang="nb-NO" dirty="0" err="1"/>
              <a:t>What</a:t>
            </a:r>
            <a:r>
              <a:rPr lang="nb-NO" dirty="0"/>
              <a:t> types </a:t>
            </a:r>
            <a:r>
              <a:rPr lang="nb-NO" dirty="0" err="1"/>
              <a:t>exitsts</a:t>
            </a:r>
            <a:r>
              <a:rPr lang="nb-NO" dirty="0"/>
              <a:t>?</a:t>
            </a:r>
          </a:p>
          <a:p>
            <a:pPr marL="228600" indent="-228600">
              <a:buAutoNum type="arabicPeriod"/>
            </a:pPr>
            <a:r>
              <a:rPr lang="nb-NO" dirty="0" err="1"/>
              <a:t>What</a:t>
            </a:r>
            <a:r>
              <a:rPr lang="nb-NO" dirty="0"/>
              <a:t> </a:t>
            </a:r>
            <a:r>
              <a:rPr lang="nb-NO" dirty="0" err="1"/>
              <a:t>are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problems </a:t>
            </a:r>
            <a:r>
              <a:rPr lang="nb-NO" dirty="0" err="1"/>
              <a:t>with</a:t>
            </a:r>
            <a:r>
              <a:rPr lang="nb-NO" dirty="0"/>
              <a:t> </a:t>
            </a:r>
            <a:r>
              <a:rPr lang="nb-NO" dirty="0" err="1"/>
              <a:t>current</a:t>
            </a:r>
            <a:r>
              <a:rPr lang="nb-NO" dirty="0"/>
              <a:t> </a:t>
            </a:r>
            <a:r>
              <a:rPr lang="nb-NO" dirty="0" err="1"/>
              <a:t>manufacturing</a:t>
            </a:r>
            <a:r>
              <a:rPr lang="nb-NO" dirty="0"/>
              <a:t> and </a:t>
            </a:r>
            <a:r>
              <a:rPr lang="nb-NO" dirty="0" err="1"/>
              <a:t>orthses</a:t>
            </a:r>
            <a:endParaRPr lang="nb-NO" dirty="0"/>
          </a:p>
          <a:p>
            <a:pPr marL="228600" indent="-228600">
              <a:buAutoNum type="arabicPeriod"/>
            </a:pPr>
            <a:r>
              <a:rPr lang="nb-NO" dirty="0" err="1"/>
              <a:t>What</a:t>
            </a:r>
            <a:r>
              <a:rPr lang="nb-NO" dirty="0"/>
              <a:t> </a:t>
            </a:r>
            <a:r>
              <a:rPr lang="nb-NO" dirty="0" err="1"/>
              <a:t>are</a:t>
            </a:r>
            <a:r>
              <a:rPr lang="nb-NO" dirty="0"/>
              <a:t> </a:t>
            </a:r>
            <a:r>
              <a:rPr lang="nb-NO" dirty="0" err="1"/>
              <a:t>some</a:t>
            </a:r>
            <a:r>
              <a:rPr lang="nb-NO" dirty="0"/>
              <a:t> </a:t>
            </a:r>
            <a:r>
              <a:rPr lang="nb-NO" dirty="0" err="1"/>
              <a:t>potenial</a:t>
            </a:r>
            <a:r>
              <a:rPr lang="nb-NO" dirty="0"/>
              <a:t> </a:t>
            </a:r>
            <a:r>
              <a:rPr lang="nb-NO" dirty="0" err="1"/>
              <a:t>fixes</a:t>
            </a:r>
            <a:r>
              <a:rPr lang="nb-NO" dirty="0"/>
              <a:t> -&gt; 3D </a:t>
            </a:r>
            <a:r>
              <a:rPr lang="nb-NO" dirty="0" err="1"/>
              <a:t>Scanning</a:t>
            </a:r>
            <a:r>
              <a:rPr lang="nb-NO" dirty="0"/>
              <a:t> and 3D </a:t>
            </a:r>
            <a:r>
              <a:rPr lang="nb-NO" dirty="0" err="1"/>
              <a:t>Priniting</a:t>
            </a:r>
            <a:r>
              <a:rPr lang="nb-NO" dirty="0"/>
              <a:t> </a:t>
            </a:r>
            <a:r>
              <a:rPr lang="nb-NO" dirty="0" err="1"/>
              <a:t>may</a:t>
            </a:r>
            <a:r>
              <a:rPr lang="nb-NO" dirty="0"/>
              <a:t> offer intersting </a:t>
            </a:r>
            <a:r>
              <a:rPr lang="nb-NO" dirty="0" err="1"/>
              <a:t>solutions</a:t>
            </a:r>
            <a:r>
              <a:rPr lang="nb-NO" dirty="0"/>
              <a:t> to </a:t>
            </a:r>
            <a:r>
              <a:rPr lang="nb-NO" dirty="0" err="1"/>
              <a:t>these</a:t>
            </a:r>
            <a:r>
              <a:rPr lang="nb-NO" dirty="0"/>
              <a:t> problems</a:t>
            </a:r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48264-557A-4C94-8BD5-7983BF26AD3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447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How </a:t>
            </a:r>
            <a:r>
              <a:rPr lang="nb-NO" dirty="0" err="1"/>
              <a:t>we</a:t>
            </a:r>
            <a:r>
              <a:rPr lang="nb-NO" dirty="0"/>
              <a:t> </a:t>
            </a:r>
            <a:r>
              <a:rPr lang="nb-NO" dirty="0" err="1"/>
              <a:t>implemneted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E6FDAF-87B1-4FEB-B949-7BEB45A7758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7142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INTRODUCTION TO 3D SCANNING</a:t>
            </a:r>
          </a:p>
          <a:p>
            <a:endParaRPr lang="nb-NO" dirty="0"/>
          </a:p>
          <a:p>
            <a:r>
              <a:rPr lang="nb-NO" dirty="0"/>
              <a:t>SCRIPT HERE</a:t>
            </a:r>
          </a:p>
          <a:p>
            <a:pPr marL="228600" indent="-228600">
              <a:buAutoNum type="arabicPeriod"/>
            </a:pPr>
            <a:r>
              <a:rPr lang="nb-NO" dirty="0" err="1"/>
              <a:t>What</a:t>
            </a:r>
            <a:r>
              <a:rPr lang="nb-NO" dirty="0"/>
              <a:t> is 3D </a:t>
            </a:r>
            <a:r>
              <a:rPr lang="nb-NO" dirty="0" err="1"/>
              <a:t>Scanning</a:t>
            </a:r>
            <a:r>
              <a:rPr lang="nb-NO" dirty="0"/>
              <a:t> ? -&gt; Turn </a:t>
            </a:r>
            <a:r>
              <a:rPr lang="nb-NO" dirty="0" err="1"/>
              <a:t>reallife</a:t>
            </a:r>
            <a:r>
              <a:rPr lang="nb-NO" dirty="0"/>
              <a:t> </a:t>
            </a:r>
            <a:r>
              <a:rPr lang="nb-NO" dirty="0" err="1"/>
              <a:t>stuff</a:t>
            </a:r>
            <a:r>
              <a:rPr lang="nb-NO" dirty="0"/>
              <a:t> </a:t>
            </a:r>
            <a:r>
              <a:rPr lang="nb-NO" dirty="0" err="1"/>
              <a:t>into</a:t>
            </a:r>
            <a:r>
              <a:rPr lang="nb-NO" dirty="0"/>
              <a:t> di3D </a:t>
            </a:r>
            <a:r>
              <a:rPr lang="nb-NO" dirty="0" err="1"/>
              <a:t>models</a:t>
            </a:r>
            <a:endParaRPr lang="nb-NO" dirty="0"/>
          </a:p>
          <a:p>
            <a:pPr marL="228600" indent="-228600">
              <a:buAutoNum type="arabicPeriod"/>
            </a:pPr>
            <a:r>
              <a:rPr lang="nb-NO" dirty="0" err="1"/>
              <a:t>Advatages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3D </a:t>
            </a:r>
            <a:r>
              <a:rPr lang="nb-NO" dirty="0" err="1"/>
              <a:t>scanning</a:t>
            </a:r>
            <a:r>
              <a:rPr lang="nb-NO" dirty="0"/>
              <a:t> </a:t>
            </a:r>
            <a:r>
              <a:rPr lang="nb-NO" dirty="0" err="1"/>
              <a:t>comapred</a:t>
            </a:r>
            <a:r>
              <a:rPr lang="nb-NO" dirty="0"/>
              <a:t> to </a:t>
            </a:r>
            <a:r>
              <a:rPr lang="nb-NO" dirty="0" err="1"/>
              <a:t>other</a:t>
            </a:r>
            <a:r>
              <a:rPr lang="nb-NO" dirty="0"/>
              <a:t> </a:t>
            </a:r>
            <a:r>
              <a:rPr lang="nb-NO" dirty="0" err="1"/>
              <a:t>methods</a:t>
            </a:r>
            <a:r>
              <a:rPr lang="nb-NO" dirty="0"/>
              <a:t> -&gt; Alternative </a:t>
            </a:r>
            <a:r>
              <a:rPr lang="nb-NO" dirty="0" err="1"/>
              <a:t>technolgoies</a:t>
            </a:r>
            <a:endParaRPr lang="nb-NO" dirty="0"/>
          </a:p>
          <a:p>
            <a:pPr marL="228600" indent="-228600">
              <a:buAutoNum type="arabicPeriod"/>
            </a:pPr>
            <a:r>
              <a:rPr lang="nb-NO" dirty="0"/>
              <a:t>How </a:t>
            </a:r>
            <a:r>
              <a:rPr lang="nb-NO" dirty="0" err="1"/>
              <a:t>can</a:t>
            </a:r>
            <a:r>
              <a:rPr lang="nb-NO" dirty="0"/>
              <a:t> 3D </a:t>
            </a:r>
            <a:r>
              <a:rPr lang="nb-NO" dirty="0" err="1"/>
              <a:t>scanning</a:t>
            </a:r>
            <a:r>
              <a:rPr lang="nb-NO" dirty="0"/>
              <a:t> be </a:t>
            </a:r>
            <a:r>
              <a:rPr lang="nb-NO" dirty="0" err="1"/>
              <a:t>acomplished</a:t>
            </a:r>
            <a:r>
              <a:rPr lang="nb-NO" dirty="0"/>
              <a:t> ? -&gt; Einstar 3D skanner </a:t>
            </a: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48264-557A-4C94-8BD5-7983BF26AD3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4510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INTRODUCTION TO 3D PRINTING</a:t>
            </a:r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48264-557A-4C94-8BD5-7983BF26AD3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0423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The art </a:t>
            </a:r>
            <a:r>
              <a:rPr lang="nb-NO" dirty="0" err="1"/>
              <a:t>of</a:t>
            </a:r>
            <a:r>
              <a:rPr lang="nb-NO" dirty="0"/>
              <a:t> turning </a:t>
            </a:r>
            <a:r>
              <a:rPr lang="nb-NO" dirty="0" err="1"/>
              <a:t>objects</a:t>
            </a:r>
            <a:r>
              <a:rPr lang="nb-NO" dirty="0"/>
              <a:t> </a:t>
            </a:r>
            <a:r>
              <a:rPr lang="nb-NO" dirty="0" err="1"/>
              <a:t>into</a:t>
            </a:r>
            <a:r>
              <a:rPr lang="nb-NO" dirty="0"/>
              <a:t> digital 3D </a:t>
            </a:r>
            <a:r>
              <a:rPr lang="nb-NO" dirty="0" err="1"/>
              <a:t>models</a:t>
            </a:r>
            <a:r>
              <a:rPr lang="nb-NO" dirty="0"/>
              <a:t>.</a:t>
            </a:r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48264-557A-4C94-8BD5-7983BF26AD3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5986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48264-557A-4C94-8BD5-7983BF26AD3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7514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nb-NO" sz="1200" dirty="0" err="1">
                <a:latin typeface="Aptos Black" panose="020B0004020202020204" pitchFamily="34" charset="0"/>
              </a:rPr>
              <a:t>Infrared</a:t>
            </a:r>
            <a:r>
              <a:rPr lang="nb-NO" sz="1200" dirty="0">
                <a:latin typeface="Aptos Black" panose="020B0004020202020204" pitchFamily="34" charset="0"/>
              </a:rPr>
              <a:t> </a:t>
            </a:r>
            <a:r>
              <a:rPr lang="nb-NO" sz="1200" dirty="0" err="1">
                <a:latin typeface="Aptos Black" panose="020B0004020202020204" pitchFamily="34" charset="0"/>
              </a:rPr>
              <a:t>temperature</a:t>
            </a:r>
            <a:r>
              <a:rPr lang="nb-NO" sz="1200" dirty="0">
                <a:latin typeface="Aptos Black" panose="020B0004020202020204" pitchFamily="34" charset="0"/>
              </a:rPr>
              <a:t> sensor</a:t>
            </a:r>
          </a:p>
          <a:p>
            <a:pPr>
              <a:lnSpc>
                <a:spcPct val="150000"/>
              </a:lnSpc>
            </a:pPr>
            <a:r>
              <a:rPr lang="nb-NO" sz="1200" dirty="0" err="1">
                <a:latin typeface="Aptos Black" panose="020B0004020202020204" pitchFamily="34" charset="0"/>
              </a:rPr>
              <a:t>Contactless</a:t>
            </a:r>
            <a:endParaRPr lang="nb-NO" sz="1200" dirty="0">
              <a:latin typeface="Aptos Black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nb-NO" sz="1200" dirty="0" err="1">
                <a:latin typeface="Aptos Black" panose="020B0004020202020204" pitchFamily="34" charset="0"/>
              </a:rPr>
              <a:t>Emissivite</a:t>
            </a:r>
            <a:endParaRPr lang="nb-NO" sz="1200" dirty="0">
              <a:latin typeface="Aptos Black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nb-NO" sz="1200" dirty="0">
                <a:latin typeface="Aptos Black" panose="020B0004020202020204" pitchFamily="34" charset="0"/>
              </a:rPr>
              <a:t>Human </a:t>
            </a:r>
            <a:r>
              <a:rPr lang="nb-NO" sz="1200" dirty="0" err="1">
                <a:latin typeface="Aptos Black" panose="020B0004020202020204" pitchFamily="34" charset="0"/>
              </a:rPr>
              <a:t>preseance</a:t>
            </a:r>
            <a:r>
              <a:rPr lang="nb-NO" sz="1200" dirty="0">
                <a:latin typeface="Aptos Black" panose="020B0004020202020204" pitchFamily="34" charset="0"/>
              </a:rPr>
              <a:t> sensor</a:t>
            </a:r>
          </a:p>
          <a:p>
            <a:pPr>
              <a:lnSpc>
                <a:spcPct val="150000"/>
              </a:lnSpc>
            </a:pPr>
            <a:r>
              <a:rPr lang="nb-NO" sz="1200" dirty="0" err="1">
                <a:latin typeface="Aptos Black" panose="020B0004020202020204" pitchFamily="34" charset="0"/>
              </a:rPr>
              <a:t>Skin</a:t>
            </a:r>
            <a:r>
              <a:rPr lang="nb-NO" sz="1200" dirty="0">
                <a:latin typeface="Aptos Black" panose="020B0004020202020204" pitchFamily="34" charset="0"/>
              </a:rPr>
              <a:t> </a:t>
            </a:r>
            <a:r>
              <a:rPr lang="nb-NO" sz="1200" dirty="0" err="1">
                <a:latin typeface="Aptos Black" panose="020B0004020202020204" pitchFamily="34" charset="0"/>
              </a:rPr>
              <a:t>specific</a:t>
            </a:r>
            <a:r>
              <a:rPr lang="nb-NO" sz="1200" dirty="0">
                <a:latin typeface="Aptos Black" panose="020B0004020202020204" pitchFamily="34" charset="0"/>
              </a:rPr>
              <a:t> </a:t>
            </a:r>
            <a:r>
              <a:rPr lang="nb-NO" sz="1200" dirty="0" err="1">
                <a:latin typeface="Aptos Black" panose="020B0004020202020204" pitchFamily="34" charset="0"/>
              </a:rPr>
              <a:t>infrared</a:t>
            </a:r>
            <a:r>
              <a:rPr lang="nb-NO" sz="1200" dirty="0">
                <a:latin typeface="Aptos Black" panose="020B0004020202020204" pitchFamily="34" charset="0"/>
              </a:rPr>
              <a:t> </a:t>
            </a:r>
            <a:r>
              <a:rPr lang="nb-NO" sz="1200" dirty="0" err="1">
                <a:latin typeface="Aptos Black" panose="020B0004020202020204" pitchFamily="34" charset="0"/>
              </a:rPr>
              <a:t>radiation</a:t>
            </a:r>
            <a:endParaRPr lang="nb-NO" sz="1200" dirty="0">
              <a:latin typeface="Aptos Black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nb-NO" sz="1200" dirty="0" err="1">
                <a:latin typeface="Aptos Black" panose="020B0004020202020204" pitchFamily="34" charset="0"/>
              </a:rPr>
              <a:t>Thresholds</a:t>
            </a:r>
            <a:endParaRPr lang="nb-NO" sz="1200" dirty="0">
              <a:latin typeface="Aptos Black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nb-NO" sz="1200" dirty="0">
                <a:latin typeface="Aptos Black" panose="020B0004020202020204" pitchFamily="34" charset="0"/>
              </a:rPr>
              <a:t>Lense </a:t>
            </a:r>
            <a:r>
              <a:rPr lang="nb-NO" sz="1200" dirty="0" err="1">
                <a:latin typeface="Aptos Black" panose="020B0004020202020204" pitchFamily="34" charset="0"/>
              </a:rPr>
              <a:t>oppurtunities</a:t>
            </a:r>
            <a:endParaRPr lang="nb-NO" sz="1200" dirty="0">
              <a:latin typeface="Aptos Black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nb-NO" sz="1200" dirty="0">
                <a:latin typeface="Aptos Black" panose="020B0004020202020204" pitchFamily="34" charset="0"/>
              </a:rPr>
              <a:t>3D </a:t>
            </a:r>
            <a:r>
              <a:rPr lang="nb-NO" sz="1200" dirty="0" err="1">
                <a:latin typeface="Aptos Black" panose="020B0004020202020204" pitchFamily="34" charset="0"/>
              </a:rPr>
              <a:t>print</a:t>
            </a:r>
            <a:r>
              <a:rPr lang="nb-NO" sz="1200" dirty="0">
                <a:latin typeface="Aptos Black" panose="020B0004020202020204" pitchFamily="34" charset="0"/>
              </a:rPr>
              <a:t> in </a:t>
            </a:r>
            <a:r>
              <a:rPr lang="nb-NO" sz="1200" dirty="0" err="1">
                <a:latin typeface="Aptos Black" panose="020B0004020202020204" pitchFamily="34" charset="0"/>
              </a:rPr>
              <a:t>black</a:t>
            </a:r>
            <a:endParaRPr lang="nb-NO" sz="1200" dirty="0">
              <a:latin typeface="Aptos Black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E6FDAF-87B1-4FEB-B949-7BEB45A7758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9262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E6FDAF-87B1-4FEB-B949-7BEB45A7758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9701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So all in all </a:t>
            </a:r>
            <a:r>
              <a:rPr lang="nb-NO" dirty="0" err="1"/>
              <a:t>we</a:t>
            </a:r>
            <a:r>
              <a:rPr lang="nb-NO" dirty="0"/>
              <a:t> have </a:t>
            </a:r>
            <a:r>
              <a:rPr lang="nb-NO" dirty="0" err="1"/>
              <a:t>developed</a:t>
            </a:r>
            <a:r>
              <a:rPr lang="nb-NO" dirty="0"/>
              <a:t> a </a:t>
            </a:r>
            <a:r>
              <a:rPr lang="nb-NO" dirty="0" err="1"/>
              <a:t>static</a:t>
            </a:r>
            <a:r>
              <a:rPr lang="nb-NO" dirty="0"/>
              <a:t> </a:t>
            </a:r>
            <a:r>
              <a:rPr lang="nb-NO" dirty="0" err="1"/>
              <a:t>wrist</a:t>
            </a:r>
            <a:r>
              <a:rPr lang="nb-NO" dirty="0"/>
              <a:t> </a:t>
            </a:r>
            <a:r>
              <a:rPr lang="nb-NO" dirty="0" err="1"/>
              <a:t>orthosis</a:t>
            </a:r>
            <a:r>
              <a:rPr lang="nb-NO" dirty="0"/>
              <a:t> via 3D </a:t>
            </a:r>
            <a:r>
              <a:rPr lang="nb-NO" dirty="0" err="1"/>
              <a:t>scanning</a:t>
            </a:r>
            <a:r>
              <a:rPr lang="nb-NO" dirty="0"/>
              <a:t> and </a:t>
            </a:r>
            <a:r>
              <a:rPr lang="nb-NO" dirty="0" err="1"/>
              <a:t>printing</a:t>
            </a:r>
            <a:r>
              <a:rPr lang="nb-NO" dirty="0"/>
              <a:t>. It is </a:t>
            </a:r>
            <a:r>
              <a:rPr lang="nb-NO" dirty="0" err="1"/>
              <a:t>enabled</a:t>
            </a:r>
            <a:r>
              <a:rPr lang="nb-NO" dirty="0"/>
              <a:t> </a:t>
            </a:r>
            <a:r>
              <a:rPr lang="nb-NO" dirty="0" err="1"/>
              <a:t>with</a:t>
            </a:r>
            <a:r>
              <a:rPr lang="nb-NO" dirty="0"/>
              <a:t> </a:t>
            </a:r>
            <a:r>
              <a:rPr lang="nb-NO" dirty="0" err="1"/>
              <a:t>sensory</a:t>
            </a:r>
            <a:r>
              <a:rPr lang="nb-NO" dirty="0"/>
              <a:t> elements </a:t>
            </a:r>
            <a:r>
              <a:rPr lang="nb-NO" dirty="0" err="1"/>
              <a:t>enabling</a:t>
            </a:r>
            <a:r>
              <a:rPr lang="nb-NO" dirty="0"/>
              <a:t> </a:t>
            </a:r>
            <a:r>
              <a:rPr lang="nb-NO" dirty="0" err="1"/>
              <a:t>wear</a:t>
            </a:r>
            <a:r>
              <a:rPr lang="nb-NO" dirty="0"/>
              <a:t> </a:t>
            </a:r>
            <a:r>
              <a:rPr lang="nb-NO" dirty="0" err="1"/>
              <a:t>detection</a:t>
            </a:r>
            <a:r>
              <a:rPr lang="nb-NO" dirty="0"/>
              <a:t>. </a:t>
            </a:r>
            <a:r>
              <a:rPr lang="nb-NO" dirty="0" err="1"/>
              <a:t>Specfiically</a:t>
            </a:r>
            <a:r>
              <a:rPr lang="nb-NO" dirty="0"/>
              <a:t>, an </a:t>
            </a:r>
            <a:r>
              <a:rPr lang="nb-NO" dirty="0" err="1"/>
              <a:t>infrared</a:t>
            </a:r>
            <a:r>
              <a:rPr lang="nb-NO" dirty="0"/>
              <a:t> </a:t>
            </a:r>
            <a:r>
              <a:rPr lang="nb-NO" dirty="0" err="1"/>
              <a:t>tempreature</a:t>
            </a:r>
            <a:r>
              <a:rPr lang="nb-NO" dirty="0"/>
              <a:t> sensor is </a:t>
            </a:r>
            <a:r>
              <a:rPr lang="nb-NO" dirty="0" err="1"/>
              <a:t>measured</a:t>
            </a:r>
            <a:r>
              <a:rPr lang="nb-NO" dirty="0"/>
              <a:t> by an ESP32 microcontroller.</a:t>
            </a:r>
          </a:p>
          <a:p>
            <a:r>
              <a:rPr lang="nb-NO" dirty="0"/>
              <a:t>The microcontroller </a:t>
            </a:r>
            <a:r>
              <a:rPr lang="nb-NO" dirty="0" err="1"/>
              <a:t>periodically</a:t>
            </a:r>
            <a:r>
              <a:rPr lang="nb-NO" dirty="0"/>
              <a:t> </a:t>
            </a:r>
            <a:r>
              <a:rPr lang="nb-NO" dirty="0" err="1"/>
              <a:t>reads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temperature</a:t>
            </a:r>
            <a:r>
              <a:rPr lang="nb-NO" dirty="0"/>
              <a:t> sensor and logs it to </a:t>
            </a:r>
            <a:r>
              <a:rPr lang="nb-NO" dirty="0" err="1"/>
              <a:t>the</a:t>
            </a:r>
            <a:r>
              <a:rPr lang="nb-NO" dirty="0"/>
              <a:t> SD </a:t>
            </a:r>
            <a:r>
              <a:rPr lang="nb-NO" dirty="0" err="1"/>
              <a:t>card</a:t>
            </a:r>
            <a:r>
              <a:rPr lang="nb-NO" dirty="0"/>
              <a:t>, </a:t>
            </a:r>
            <a:r>
              <a:rPr lang="nb-NO" dirty="0" err="1"/>
              <a:t>achieveing</a:t>
            </a:r>
            <a:r>
              <a:rPr lang="nb-NO" dirty="0"/>
              <a:t> </a:t>
            </a:r>
            <a:r>
              <a:rPr lang="nb-NO" dirty="0" err="1"/>
              <a:t>compliance</a:t>
            </a:r>
            <a:r>
              <a:rPr lang="nb-NO" dirty="0"/>
              <a:t> </a:t>
            </a:r>
            <a:r>
              <a:rPr lang="nb-NO" dirty="0" err="1"/>
              <a:t>monitoring</a:t>
            </a:r>
            <a:r>
              <a:rPr lang="nb-NO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E6FDAF-87B1-4FEB-B949-7BEB45A7758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9367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E6FDAF-87B1-4FEB-B949-7BEB45A7758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340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B159F-4063-4AB0-B1A2-78726BF65EA6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2F42B-8221-4C7C-B86A-0DC013FE7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812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B159F-4063-4AB0-B1A2-78726BF65EA6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2F42B-8221-4C7C-B86A-0DC013FE7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365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B159F-4063-4AB0-B1A2-78726BF65EA6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2F42B-8221-4C7C-B86A-0DC013FE7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681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B159F-4063-4AB0-B1A2-78726BF65EA6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2F42B-8221-4C7C-B86A-0DC013FE7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756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B159F-4063-4AB0-B1A2-78726BF65EA6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2F42B-8221-4C7C-B86A-0DC013FE7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688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B159F-4063-4AB0-B1A2-78726BF65EA6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2F42B-8221-4C7C-B86A-0DC013FE7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901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B159F-4063-4AB0-B1A2-78726BF65EA6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2F42B-8221-4C7C-B86A-0DC013FE7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787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B159F-4063-4AB0-B1A2-78726BF65EA6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2F42B-8221-4C7C-B86A-0DC013FE7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138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B159F-4063-4AB0-B1A2-78726BF65EA6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2F42B-8221-4C7C-B86A-0DC013FE7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777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B159F-4063-4AB0-B1A2-78726BF65EA6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2F42B-8221-4C7C-B86A-0DC013FE7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478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B159F-4063-4AB0-B1A2-78726BF65EA6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2F42B-8221-4C7C-B86A-0DC013FE7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899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7B159F-4063-4AB0-B1A2-78726BF65EA6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32F42B-8221-4C7C-B86A-0DC013FE7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783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zoho.com/blog/invoice/10-reasons-tracking-time-matters.html" TargetMode="External"/><Relationship Id="rId2" Type="http://schemas.openxmlformats.org/officeDocument/2006/relationships/hyperlink" Target="https://www.orfit.com/physical-rehabilitation/blog/splint-in-the-spotlight-the-circumferential-wrist-orthosis-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tudy-aids.co.uk/dissertation-blog/research-method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1B1AC-2AA8-65A0-75D5-BB104B41D4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95359"/>
            <a:ext cx="9144000" cy="1122218"/>
          </a:xfrm>
        </p:spPr>
        <p:txBody>
          <a:bodyPr>
            <a:normAutofit fontScale="90000"/>
          </a:bodyPr>
          <a:lstStyle/>
          <a:p>
            <a:r>
              <a:rPr lang="nb-NO" dirty="0" err="1">
                <a:latin typeface="Aptos Black" panose="020B0004020202020204" pitchFamily="34" charset="0"/>
              </a:rPr>
              <a:t>Compliance</a:t>
            </a:r>
            <a:r>
              <a:rPr lang="nb-NO" dirty="0">
                <a:latin typeface="Aptos Black" panose="020B0004020202020204" pitchFamily="34" charset="0"/>
              </a:rPr>
              <a:t> </a:t>
            </a:r>
            <a:r>
              <a:rPr lang="nb-NO" dirty="0" err="1">
                <a:latin typeface="Aptos Black" panose="020B0004020202020204" pitchFamily="34" charset="0"/>
              </a:rPr>
              <a:t>Monitoring</a:t>
            </a:r>
            <a:r>
              <a:rPr lang="nb-NO" dirty="0">
                <a:latin typeface="Aptos Black" panose="020B0004020202020204" pitchFamily="34" charset="0"/>
              </a:rPr>
              <a:t> </a:t>
            </a:r>
            <a:r>
              <a:rPr lang="nb-NO" dirty="0" err="1">
                <a:latin typeface="Aptos Black" panose="020B0004020202020204" pitchFamily="34" charset="0"/>
              </a:rPr>
              <a:t>Orthosis</a:t>
            </a:r>
            <a:endParaRPr lang="en-US" dirty="0">
              <a:latin typeface="+mn-lt"/>
            </a:endParaRPr>
          </a:p>
        </p:txBody>
      </p:sp>
      <p:pic>
        <p:nvPicPr>
          <p:cNvPr id="3" name="Grafikk 178779887">
            <a:extLst>
              <a:ext uri="{FF2B5EF4-FFF2-40B4-BE49-F238E27FC236}">
                <a16:creationId xmlns:a16="http://schemas.microsoft.com/office/drawing/2014/main" id="{13D4A542-126E-D2A5-4911-F78675B913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141" y="5040423"/>
            <a:ext cx="2907030" cy="13252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6C7CC2-63A9-91DA-A02A-A85909590DBE}"/>
              </a:ext>
            </a:extLst>
          </p:cNvPr>
          <p:cNvSpPr txBox="1"/>
          <p:nvPr/>
        </p:nvSpPr>
        <p:spPr>
          <a:xfrm>
            <a:off x="3291555" y="5442338"/>
            <a:ext cx="53162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dirty="0"/>
              <a:t>Adam Emile Aske</a:t>
            </a:r>
          </a:p>
          <a:p>
            <a:pPr algn="ctr"/>
            <a:r>
              <a:rPr lang="nb-NO" dirty="0"/>
              <a:t>Viktoria </a:t>
            </a:r>
            <a:r>
              <a:rPr lang="nb-NO" dirty="0" err="1"/>
              <a:t>Huszar</a:t>
            </a:r>
            <a:endParaRPr lang="nb-NO" dirty="0"/>
          </a:p>
          <a:p>
            <a:pPr algn="ctr"/>
            <a:r>
              <a:rPr lang="nb-NO" dirty="0" err="1"/>
              <a:t>Yang</a:t>
            </a:r>
            <a:r>
              <a:rPr lang="nb-NO" dirty="0"/>
              <a:t> </a:t>
            </a:r>
            <a:r>
              <a:rPr lang="nb-NO" dirty="0" err="1"/>
              <a:t>Cui</a:t>
            </a:r>
            <a:r>
              <a:rPr lang="nb-NO" dirty="0"/>
              <a:t> Solås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2CB0146-6293-861D-7B24-97510D814E5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499" b="14499"/>
          <a:stretch/>
        </p:blipFill>
        <p:spPr>
          <a:xfrm>
            <a:off x="2427768" y="2018533"/>
            <a:ext cx="7673163" cy="322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481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B36B5B-5ABD-3B0E-924A-2CE492354D1D}"/>
              </a:ext>
            </a:extLst>
          </p:cNvPr>
          <p:cNvSpPr txBox="1"/>
          <p:nvPr/>
        </p:nvSpPr>
        <p:spPr>
          <a:xfrm>
            <a:off x="804672" y="777240"/>
            <a:ext cx="57332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6000" dirty="0" err="1">
                <a:latin typeface="Aptos Black" panose="020B0004020202020204" pitchFamily="34" charset="0"/>
              </a:rPr>
              <a:t>Orthoses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A33E3E-D0EA-2628-29E5-4C310AD2E0A4}"/>
              </a:ext>
            </a:extLst>
          </p:cNvPr>
          <p:cNvSpPr txBox="1"/>
          <p:nvPr/>
        </p:nvSpPr>
        <p:spPr>
          <a:xfrm>
            <a:off x="1335024" y="2203704"/>
            <a:ext cx="4828032" cy="3423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nb-NO" sz="2800" dirty="0">
                <a:latin typeface="Aptos Black" panose="020B0004020202020204" pitchFamily="34" charset="0"/>
              </a:rPr>
              <a:t>Purpose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nb-NO" sz="2800" dirty="0">
                <a:latin typeface="Aptos Black" panose="020B0004020202020204" pitchFamily="34" charset="0"/>
              </a:rPr>
              <a:t>Different types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nb-NO" sz="2800" dirty="0">
                <a:latin typeface="Aptos Black" panose="020B0004020202020204" pitchFamily="34" charset="0"/>
              </a:rPr>
              <a:t>Problems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nb-NO" sz="2800" dirty="0" err="1">
                <a:latin typeface="Aptos Black" panose="020B0004020202020204" pitchFamily="34" charset="0"/>
              </a:rPr>
              <a:t>Potential</a:t>
            </a:r>
            <a:endParaRPr lang="nb-NO" sz="2800" dirty="0">
              <a:latin typeface="Aptos Black" panose="020B0004020202020204" pitchFamily="34" charset="0"/>
            </a:endParaRPr>
          </a:p>
        </p:txBody>
      </p:sp>
      <p:pic>
        <p:nvPicPr>
          <p:cNvPr id="1026" name="Picture 2" descr="The Circumferential Wrist Orthosis">
            <a:extLst>
              <a:ext uri="{FF2B5EF4-FFF2-40B4-BE49-F238E27FC236}">
                <a16:creationId xmlns:a16="http://schemas.microsoft.com/office/drawing/2014/main" id="{F079F90D-05C3-FA08-FA26-55057C32C4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76"/>
          <a:stretch/>
        </p:blipFill>
        <p:spPr bwMode="auto">
          <a:xfrm>
            <a:off x="4635795" y="1728319"/>
            <a:ext cx="7556205" cy="3898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9168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F62F4-4588-8A28-458B-7A854A4BA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>
                <a:latin typeface="Aptos Black" panose="020B0004020202020204" pitchFamily="34" charset="0"/>
              </a:rPr>
              <a:t>Compliance</a:t>
            </a:r>
            <a:r>
              <a:rPr lang="nb-NO" dirty="0">
                <a:latin typeface="Aptos Black" panose="020B0004020202020204" pitchFamily="34" charset="0"/>
              </a:rPr>
              <a:t> </a:t>
            </a:r>
            <a:r>
              <a:rPr lang="nb-NO" dirty="0" err="1">
                <a:latin typeface="Aptos Black" panose="020B0004020202020204" pitchFamily="34" charset="0"/>
              </a:rPr>
              <a:t>Monitroing</a:t>
            </a:r>
            <a:endParaRPr lang="en-US" dirty="0">
              <a:latin typeface="Aptos Black" panose="020B00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43801F9-363B-24D0-F281-54DC41911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0298" y="1856747"/>
            <a:ext cx="5403112" cy="435133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200000"/>
              </a:lnSpc>
            </a:pPr>
            <a:r>
              <a:rPr lang="nb-NO" dirty="0" err="1">
                <a:latin typeface="Aptos Black" panose="020B0004020202020204" pitchFamily="34" charset="0"/>
              </a:rPr>
              <a:t>Why</a:t>
            </a:r>
            <a:r>
              <a:rPr lang="nb-NO" dirty="0">
                <a:latin typeface="Aptos Black" panose="020B0004020202020204" pitchFamily="34" charset="0"/>
              </a:rPr>
              <a:t> </a:t>
            </a:r>
            <a:r>
              <a:rPr lang="nb-NO" dirty="0" err="1">
                <a:latin typeface="Aptos Black" panose="020B0004020202020204" pitchFamily="34" charset="0"/>
              </a:rPr>
              <a:t>compliance</a:t>
            </a:r>
            <a:r>
              <a:rPr lang="nb-NO" dirty="0">
                <a:latin typeface="Aptos Black" panose="020B0004020202020204" pitchFamily="34" charset="0"/>
              </a:rPr>
              <a:t> </a:t>
            </a:r>
            <a:r>
              <a:rPr lang="nb-NO" dirty="0" err="1">
                <a:latin typeface="Aptos Black" panose="020B0004020202020204" pitchFamily="34" charset="0"/>
              </a:rPr>
              <a:t>monitoring</a:t>
            </a:r>
            <a:endParaRPr lang="nb-NO" dirty="0">
              <a:latin typeface="Aptos Black" panose="020B00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nb-NO" dirty="0" err="1">
                <a:latin typeface="Aptos Black" panose="020B0004020202020204" pitchFamily="34" charset="0"/>
              </a:rPr>
              <a:t>Traditional</a:t>
            </a:r>
            <a:r>
              <a:rPr lang="nb-NO" dirty="0">
                <a:latin typeface="Aptos Black" panose="020B0004020202020204" pitchFamily="34" charset="0"/>
              </a:rPr>
              <a:t> </a:t>
            </a:r>
            <a:r>
              <a:rPr lang="nb-NO" dirty="0" err="1">
                <a:latin typeface="Aptos Black" panose="020B0004020202020204" pitchFamily="34" charset="0"/>
              </a:rPr>
              <a:t>compliance</a:t>
            </a:r>
            <a:r>
              <a:rPr lang="nb-NO" dirty="0">
                <a:latin typeface="Aptos Black" panose="020B0004020202020204" pitchFamily="34" charset="0"/>
              </a:rPr>
              <a:t> </a:t>
            </a:r>
            <a:r>
              <a:rPr lang="nb-NO" dirty="0" err="1">
                <a:latin typeface="Aptos Black" panose="020B0004020202020204" pitchFamily="34" charset="0"/>
              </a:rPr>
              <a:t>monitoring</a:t>
            </a:r>
            <a:endParaRPr lang="nb-NO" dirty="0">
              <a:latin typeface="Aptos Black" panose="020B00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nb-NO" dirty="0">
                <a:latin typeface="Aptos Black" panose="020B0004020202020204" pitchFamily="34" charset="0"/>
              </a:rPr>
              <a:t>Our </a:t>
            </a:r>
            <a:r>
              <a:rPr lang="nb-NO" dirty="0" err="1">
                <a:latin typeface="Aptos Black" panose="020B0004020202020204" pitchFamily="34" charset="0"/>
              </a:rPr>
              <a:t>solution</a:t>
            </a:r>
            <a:r>
              <a:rPr lang="nb-NO" dirty="0">
                <a:latin typeface="Aptos Black" panose="020B0004020202020204" pitchFamily="34" charset="0"/>
              </a:rPr>
              <a:t> for </a:t>
            </a:r>
            <a:r>
              <a:rPr lang="nb-NO" dirty="0" err="1">
                <a:latin typeface="Aptos Black" panose="020B0004020202020204" pitchFamily="34" charset="0"/>
              </a:rPr>
              <a:t>improvements</a:t>
            </a:r>
            <a:endParaRPr lang="nb-NO" dirty="0">
              <a:latin typeface="Aptos Black" panose="020B00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nb-NO" dirty="0">
                <a:latin typeface="Aptos Black" panose="020B0004020202020204" pitchFamily="34" charset="0"/>
              </a:rPr>
              <a:t>3D </a:t>
            </a:r>
            <a:r>
              <a:rPr lang="nb-NO" dirty="0" err="1">
                <a:latin typeface="Aptos Black" panose="020B0004020202020204" pitchFamily="34" charset="0"/>
              </a:rPr>
              <a:t>Scanned</a:t>
            </a:r>
            <a:endParaRPr lang="nb-NO" dirty="0">
              <a:latin typeface="Aptos Black" panose="020B00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nb-NO" dirty="0">
                <a:latin typeface="Aptos Black" panose="020B0004020202020204" pitchFamily="34" charset="0"/>
              </a:rPr>
              <a:t>3D </a:t>
            </a:r>
            <a:r>
              <a:rPr lang="nb-NO" dirty="0" err="1">
                <a:latin typeface="Aptos Black" panose="020B0004020202020204" pitchFamily="34" charset="0"/>
              </a:rPr>
              <a:t>Printed</a:t>
            </a:r>
            <a:endParaRPr lang="nb-NO" dirty="0">
              <a:latin typeface="Aptos Black" panose="020B00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nb-NO" dirty="0">
                <a:latin typeface="Aptos Black" panose="020B0004020202020204" pitchFamily="34" charset="0"/>
              </a:rPr>
              <a:t>Sensors</a:t>
            </a:r>
          </a:p>
          <a:p>
            <a:endParaRPr lang="nb-NO" dirty="0"/>
          </a:p>
          <a:p>
            <a:endParaRPr lang="en-US" dirty="0"/>
          </a:p>
        </p:txBody>
      </p:sp>
      <p:pic>
        <p:nvPicPr>
          <p:cNvPr id="2052" name="Picture 4" descr="10 Reasons Why Tracking Time Matters - Zoho Blog">
            <a:extLst>
              <a:ext uri="{FF2B5EF4-FFF2-40B4-BE49-F238E27FC236}">
                <a16:creationId xmlns:a16="http://schemas.microsoft.com/office/drawing/2014/main" id="{0E7C4B97-666E-1716-0787-1E94FC64C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144" y="1690688"/>
            <a:ext cx="4987112" cy="4987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1033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Shining3D - Einstar Handheld 3D Scanner - Shop3D.ca">
            <a:extLst>
              <a:ext uri="{FF2B5EF4-FFF2-40B4-BE49-F238E27FC236}">
                <a16:creationId xmlns:a16="http://schemas.microsoft.com/office/drawing/2014/main" id="{CA427EEA-6CA8-CACC-C1A1-210F9A45A0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96" t="8992" r="40568" b="11008"/>
          <a:stretch/>
        </p:blipFill>
        <p:spPr bwMode="auto">
          <a:xfrm>
            <a:off x="7999618" y="1384767"/>
            <a:ext cx="1921319" cy="4554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kstSylinder 4">
            <a:extLst>
              <a:ext uri="{FF2B5EF4-FFF2-40B4-BE49-F238E27FC236}">
                <a16:creationId xmlns:a16="http://schemas.microsoft.com/office/drawing/2014/main" id="{1A8E2C02-EB57-AD89-00CB-1B09230CC2F7}"/>
              </a:ext>
            </a:extLst>
          </p:cNvPr>
          <p:cNvSpPr txBox="1"/>
          <p:nvPr/>
        </p:nvSpPr>
        <p:spPr>
          <a:xfrm>
            <a:off x="7371624" y="861547"/>
            <a:ext cx="3177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2800" b="1" dirty="0" err="1">
                <a:latin typeface="Aptos Black" panose="020B0004020202020204" pitchFamily="34" charset="0"/>
              </a:rPr>
              <a:t>Einstar</a:t>
            </a:r>
            <a:endParaRPr lang="en-US" sz="2800" b="1" dirty="0">
              <a:latin typeface="Aptos Black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B36B5B-5ABD-3B0E-924A-2CE492354D1D}"/>
              </a:ext>
            </a:extLst>
          </p:cNvPr>
          <p:cNvSpPr txBox="1"/>
          <p:nvPr/>
        </p:nvSpPr>
        <p:spPr>
          <a:xfrm>
            <a:off x="804672" y="777240"/>
            <a:ext cx="57332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6000" dirty="0">
                <a:latin typeface="Aptos Black" panose="020B0004020202020204" pitchFamily="34" charset="0"/>
              </a:rPr>
              <a:t>3D </a:t>
            </a:r>
            <a:r>
              <a:rPr lang="nb-NO" sz="6000" dirty="0" err="1">
                <a:latin typeface="Aptos Black" panose="020B0004020202020204" pitchFamily="34" charset="0"/>
              </a:rPr>
              <a:t>Scanning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A33E3E-D0EA-2628-29E5-4C310AD2E0A4}"/>
              </a:ext>
            </a:extLst>
          </p:cNvPr>
          <p:cNvSpPr txBox="1"/>
          <p:nvPr/>
        </p:nvSpPr>
        <p:spPr>
          <a:xfrm>
            <a:off x="1335024" y="2203704"/>
            <a:ext cx="4828032" cy="256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nb-NO" sz="2800" dirty="0" err="1">
                <a:latin typeface="Aptos Black" panose="020B0004020202020204" pitchFamily="34" charset="0"/>
              </a:rPr>
              <a:t>Brief</a:t>
            </a:r>
            <a:r>
              <a:rPr lang="nb-NO" sz="2800" dirty="0">
                <a:latin typeface="Aptos Black" panose="020B0004020202020204" pitchFamily="34" charset="0"/>
              </a:rPr>
              <a:t> </a:t>
            </a:r>
            <a:r>
              <a:rPr lang="nb-NO" sz="2800" dirty="0" err="1">
                <a:latin typeface="Aptos Black" panose="020B0004020202020204" pitchFamily="34" charset="0"/>
              </a:rPr>
              <a:t>technology</a:t>
            </a:r>
            <a:endParaRPr lang="nb-NO" sz="2800" dirty="0">
              <a:latin typeface="Aptos Black" panose="020B00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nb-NO" sz="2800" dirty="0" err="1">
                <a:latin typeface="Aptos Black" panose="020B0004020202020204" pitchFamily="34" charset="0"/>
              </a:rPr>
              <a:t>Advatges</a:t>
            </a:r>
            <a:r>
              <a:rPr lang="nb-NO" sz="2800" dirty="0">
                <a:latin typeface="Aptos Black" panose="020B0004020202020204" pitchFamily="34" charset="0"/>
              </a:rPr>
              <a:t> </a:t>
            </a:r>
            <a:r>
              <a:rPr lang="nb-NO" sz="2800" dirty="0" err="1">
                <a:latin typeface="Aptos Black" panose="020B0004020202020204" pitchFamily="34" charset="0"/>
              </a:rPr>
              <a:t>of</a:t>
            </a:r>
            <a:r>
              <a:rPr lang="nb-NO" sz="2800" dirty="0">
                <a:latin typeface="Aptos Black" panose="020B0004020202020204" pitchFamily="34" charset="0"/>
              </a:rPr>
              <a:t> 3D </a:t>
            </a:r>
            <a:r>
              <a:rPr lang="nb-NO" sz="2800" dirty="0" err="1">
                <a:latin typeface="Aptos Black" panose="020B0004020202020204" pitchFamily="34" charset="0"/>
              </a:rPr>
              <a:t>scanning</a:t>
            </a:r>
            <a:endParaRPr lang="nb-NO" sz="2800" dirty="0">
              <a:latin typeface="Aptos Black" panose="020B00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nb-NO" sz="2800" dirty="0" err="1">
                <a:latin typeface="Aptos Black" panose="020B0004020202020204" pitchFamily="34" charset="0"/>
              </a:rPr>
              <a:t>Somehting</a:t>
            </a:r>
            <a:endParaRPr lang="nb-NO" sz="2800" dirty="0">
              <a:latin typeface="Aptos Black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3456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7136139-BE9D-F386-EFEC-663A24942946}"/>
              </a:ext>
            </a:extLst>
          </p:cNvPr>
          <p:cNvSpPr txBox="1">
            <a:spLocks/>
          </p:cNvSpPr>
          <p:nvPr/>
        </p:nvSpPr>
        <p:spPr>
          <a:xfrm>
            <a:off x="838200" y="3882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nb-NO" dirty="0">
                <a:latin typeface="Aptos Black" panose="020B0004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3D PRINTING</a:t>
            </a:r>
            <a:endParaRPr lang="en-US" dirty="0">
              <a:latin typeface="Aptos Black" panose="020B000402020202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2050" name="Picture 2" descr="BAMBU LAB X1 - CARBON COMBO - NorMax3D">
            <a:extLst>
              <a:ext uri="{FF2B5EF4-FFF2-40B4-BE49-F238E27FC236}">
                <a16:creationId xmlns:a16="http://schemas.microsoft.com/office/drawing/2014/main" id="{D4A53736-29D1-C191-1A1F-EEC0D78C9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2069" y="1519358"/>
            <a:ext cx="4242989" cy="4831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kstSylinder 7">
            <a:extLst>
              <a:ext uri="{FF2B5EF4-FFF2-40B4-BE49-F238E27FC236}">
                <a16:creationId xmlns:a16="http://schemas.microsoft.com/office/drawing/2014/main" id="{FBB8777B-4F17-D114-8361-8884F159D461}"/>
              </a:ext>
            </a:extLst>
          </p:cNvPr>
          <p:cNvSpPr txBox="1"/>
          <p:nvPr/>
        </p:nvSpPr>
        <p:spPr>
          <a:xfrm>
            <a:off x="1265274" y="2026763"/>
            <a:ext cx="5016795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nb-NO" sz="2800" dirty="0" err="1">
                <a:latin typeface="Aptos Black" panose="020B0004020202020204" pitchFamily="34" charset="0"/>
              </a:rPr>
              <a:t>Biocompatibility</a:t>
            </a:r>
            <a:endParaRPr lang="nb-NO" sz="2800" dirty="0">
              <a:latin typeface="Aptos Black" panose="020B00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nb-NO" sz="2800" dirty="0" err="1">
                <a:latin typeface="Aptos Black" panose="020B0004020202020204" pitchFamily="34" charset="0"/>
              </a:rPr>
              <a:t>Strength</a:t>
            </a:r>
            <a:endParaRPr lang="nb-NO" sz="2800" dirty="0">
              <a:latin typeface="Aptos Black" panose="020B00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nb-NO" sz="2800" dirty="0" err="1">
                <a:latin typeface="Aptos Black" panose="020B0004020202020204" pitchFamily="34" charset="0"/>
              </a:rPr>
              <a:t>Weight</a:t>
            </a:r>
            <a:endParaRPr lang="nb-NO" sz="2800" dirty="0">
              <a:latin typeface="Aptos Black" panose="020B00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nb-NO" sz="2800" dirty="0" err="1">
                <a:latin typeface="Aptos Black" panose="020B0004020202020204" pitchFamily="34" charset="0"/>
              </a:rPr>
              <a:t>Rigidity</a:t>
            </a:r>
            <a:endParaRPr lang="nb-NO" sz="2800" dirty="0">
              <a:latin typeface="Aptos Black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288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5D42D-8A04-4200-CF2B-68451037C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>
                <a:latin typeface="Aptos Black" panose="020B0004020202020204" pitchFamily="34" charset="0"/>
              </a:rPr>
              <a:t>Methodology</a:t>
            </a:r>
            <a:endParaRPr lang="en-US" dirty="0">
              <a:latin typeface="Aptos Black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08FC7-5016-5BE7-E577-71E50ADD5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0028" y="1793728"/>
            <a:ext cx="4573772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nb-NO" dirty="0" err="1">
                <a:latin typeface="Aptos Black" panose="020B0004020202020204" pitchFamily="34" charset="0"/>
              </a:rPr>
              <a:t>Literature</a:t>
            </a:r>
            <a:r>
              <a:rPr lang="nb-NO" dirty="0">
                <a:latin typeface="Aptos Black" panose="020B0004020202020204" pitchFamily="34" charset="0"/>
              </a:rPr>
              <a:t> </a:t>
            </a:r>
            <a:r>
              <a:rPr lang="nb-NO" dirty="0" err="1">
                <a:latin typeface="Aptos Black" panose="020B0004020202020204" pitchFamily="34" charset="0"/>
              </a:rPr>
              <a:t>Review</a:t>
            </a:r>
            <a:endParaRPr lang="nb-NO" dirty="0">
              <a:latin typeface="Aptos Black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nb-NO" dirty="0">
                <a:latin typeface="Aptos Black" panose="020B0004020202020204" pitchFamily="34" charset="0"/>
              </a:rPr>
              <a:t>3D </a:t>
            </a:r>
            <a:r>
              <a:rPr lang="nb-NO" dirty="0" err="1">
                <a:latin typeface="Aptos Black" panose="020B0004020202020204" pitchFamily="34" charset="0"/>
              </a:rPr>
              <a:t>Scans</a:t>
            </a:r>
            <a:endParaRPr lang="nb-NO" dirty="0">
              <a:latin typeface="Aptos Black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nb-NO" dirty="0">
                <a:latin typeface="Aptos Black" panose="020B0004020202020204" pitchFamily="34" charset="0"/>
              </a:rPr>
              <a:t>3D Printing</a:t>
            </a:r>
          </a:p>
          <a:p>
            <a:pPr>
              <a:lnSpc>
                <a:spcPct val="150000"/>
              </a:lnSpc>
            </a:pPr>
            <a:r>
              <a:rPr lang="nb-NO" dirty="0">
                <a:latin typeface="Aptos Black" panose="020B0004020202020204" pitchFamily="34" charset="0"/>
              </a:rPr>
              <a:t>Electronics</a:t>
            </a:r>
          </a:p>
          <a:p>
            <a:pPr>
              <a:lnSpc>
                <a:spcPct val="150000"/>
              </a:lnSpc>
            </a:pPr>
            <a:r>
              <a:rPr lang="nb-NO" dirty="0">
                <a:latin typeface="Aptos Black" panose="020B0004020202020204" pitchFamily="34" charset="0"/>
              </a:rPr>
              <a:t>Testings</a:t>
            </a:r>
          </a:p>
        </p:txBody>
      </p:sp>
      <p:pic>
        <p:nvPicPr>
          <p:cNvPr id="3074" name="Picture 2" descr="Research Methods - Sample Dissertations">
            <a:extLst>
              <a:ext uri="{FF2B5EF4-FFF2-40B4-BE49-F238E27FC236}">
                <a16:creationId xmlns:a16="http://schemas.microsoft.com/office/drawing/2014/main" id="{A5E6DCAC-7EA5-2C3D-2B54-D6319894D0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90688"/>
            <a:ext cx="6581553" cy="5167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4956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00B39-38A7-6544-91D8-2CDEAFAE9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b-NO" dirty="0">
                <a:latin typeface="Aptos Black" panose="020B0004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3D SCANNING</a:t>
            </a:r>
            <a:endParaRPr lang="en-US" dirty="0">
              <a:latin typeface="Aptos Black" panose="020B000402020202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9B8D1AC0-5241-C42E-BCE2-D1BAE64F3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1854" y="1604351"/>
            <a:ext cx="2908292" cy="47686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C39BDF-D1C1-84E2-322D-EBA2CDC786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604351"/>
            <a:ext cx="2128284" cy="47817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A4CC3E-DA4C-7648-DAB2-C7287E6AF2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9529" y="1597791"/>
            <a:ext cx="2464271" cy="476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372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e 4">
            <a:extLst>
              <a:ext uri="{FF2B5EF4-FFF2-40B4-BE49-F238E27FC236}">
                <a16:creationId xmlns:a16="http://schemas.microsoft.com/office/drawing/2014/main" id="{4978DEDC-9894-CFFE-41CE-154B64560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246" y="0"/>
            <a:ext cx="3535136" cy="6858000"/>
          </a:xfrm>
          <a:prstGeom prst="rect">
            <a:avLst/>
          </a:prstGeom>
        </p:spPr>
      </p:pic>
      <p:pic>
        <p:nvPicPr>
          <p:cNvPr id="7" name="Bilde 6">
            <a:extLst>
              <a:ext uri="{FF2B5EF4-FFF2-40B4-BE49-F238E27FC236}">
                <a16:creationId xmlns:a16="http://schemas.microsoft.com/office/drawing/2014/main" id="{0799B0D4-C755-9E35-210F-3325738938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2620" y="0"/>
            <a:ext cx="41936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131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e 4">
            <a:extLst>
              <a:ext uri="{FF2B5EF4-FFF2-40B4-BE49-F238E27FC236}">
                <a16:creationId xmlns:a16="http://schemas.microsoft.com/office/drawing/2014/main" id="{7B2C106C-E595-0C71-9D23-E43E4C874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792" y="0"/>
            <a:ext cx="4691207" cy="6879034"/>
          </a:xfrm>
          <a:prstGeom prst="rect">
            <a:avLst/>
          </a:prstGeom>
        </p:spPr>
      </p:pic>
      <p:pic>
        <p:nvPicPr>
          <p:cNvPr id="7" name="Bilde 6">
            <a:extLst>
              <a:ext uri="{FF2B5EF4-FFF2-40B4-BE49-F238E27FC236}">
                <a16:creationId xmlns:a16="http://schemas.microsoft.com/office/drawing/2014/main" id="{1DD6B609-6124-0FD1-FE39-96207D9CA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2750"/>
            <a:ext cx="4073236" cy="6769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478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e 4">
            <a:extLst>
              <a:ext uri="{FF2B5EF4-FFF2-40B4-BE49-F238E27FC236}">
                <a16:creationId xmlns:a16="http://schemas.microsoft.com/office/drawing/2014/main" id="{773B0FD4-C51F-F2E7-6CF5-406C9EB67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962" y="-26684"/>
            <a:ext cx="4349365" cy="6950659"/>
          </a:xfrm>
          <a:prstGeom prst="rect">
            <a:avLst/>
          </a:prstGeom>
        </p:spPr>
      </p:pic>
      <p:pic>
        <p:nvPicPr>
          <p:cNvPr id="7" name="Bilde 6">
            <a:extLst>
              <a:ext uri="{FF2B5EF4-FFF2-40B4-BE49-F238E27FC236}">
                <a16:creationId xmlns:a16="http://schemas.microsoft.com/office/drawing/2014/main" id="{6C9AD1E9-4661-C941-0493-816763AF7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4836" y="-44914"/>
            <a:ext cx="3730528" cy="699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220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73C65-B255-654B-F644-B3F67BA03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sz="5400" dirty="0">
                <a:latin typeface="Aptos Black" panose="020B0004020202020204" pitchFamily="34" charset="0"/>
              </a:rPr>
              <a:t>Electronics</a:t>
            </a:r>
            <a:endParaRPr lang="en-US" dirty="0">
              <a:latin typeface="Aptos Black" panose="020B000402020202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3CCE943-7CA3-2928-C885-BCFE253B4289}"/>
              </a:ext>
            </a:extLst>
          </p:cNvPr>
          <p:cNvSpPr txBox="1">
            <a:spLocks/>
          </p:cNvSpPr>
          <p:nvPr/>
        </p:nvSpPr>
        <p:spPr>
          <a:xfrm>
            <a:off x="838200" y="214153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b-NO" dirty="0"/>
          </a:p>
          <a:p>
            <a:endParaRPr lang="nb-NO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046698-FC52-18C8-9D60-1905886E778F}"/>
              </a:ext>
            </a:extLst>
          </p:cNvPr>
          <p:cNvSpPr txBox="1"/>
          <p:nvPr/>
        </p:nvSpPr>
        <p:spPr>
          <a:xfrm>
            <a:off x="838200" y="1988289"/>
            <a:ext cx="5711456" cy="5040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nb-NO" sz="2800" dirty="0">
                <a:latin typeface="Aptos Black" panose="020B0004020202020204" pitchFamily="34" charset="0"/>
              </a:rPr>
              <a:t>Microcontroller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nb-NO" sz="2800" dirty="0">
                <a:latin typeface="Aptos Black" panose="020B0004020202020204" pitchFamily="34" charset="0"/>
              </a:rPr>
              <a:t>SD Card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nb-NO" sz="2800" dirty="0">
                <a:latin typeface="Aptos Black" panose="020B0004020202020204" pitchFamily="34" charset="0"/>
              </a:rPr>
              <a:t>Battery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nb-NO" sz="2800" dirty="0">
                <a:latin typeface="Aptos Black" panose="020B0004020202020204" pitchFamily="34" charset="0"/>
              </a:rPr>
              <a:t>OLED Screen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nb-NO" sz="2800" dirty="0" err="1">
                <a:latin typeface="Aptos Black" panose="020B0004020202020204" pitchFamily="34" charset="0"/>
              </a:rPr>
              <a:t>Tempretaure</a:t>
            </a:r>
            <a:r>
              <a:rPr lang="nb-NO" sz="2800" dirty="0">
                <a:latin typeface="Aptos Black" panose="020B0004020202020204" pitchFamily="34" charset="0"/>
              </a:rPr>
              <a:t> Sensor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Aptos Black" panose="020B0004020202020204" pitchFamily="34" charset="0"/>
            </a:endParaRPr>
          </a:p>
        </p:txBody>
      </p:sp>
      <p:pic>
        <p:nvPicPr>
          <p:cNvPr id="9" name="Picture 8" descr="A close-up of a circuit board&#10;&#10;Description automatically generated">
            <a:extLst>
              <a:ext uri="{FF2B5EF4-FFF2-40B4-BE49-F238E27FC236}">
                <a16:creationId xmlns:a16="http://schemas.microsoft.com/office/drawing/2014/main" id="{065456C2-9091-B10F-A421-DF88503F8A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233"/>
          <a:stretch/>
        </p:blipFill>
        <p:spPr>
          <a:xfrm>
            <a:off x="5032745" y="1690688"/>
            <a:ext cx="6949441" cy="363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477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EC744-23F3-01D1-04F5-8B1857843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D581A-457F-6A9E-9046-194ECE371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5F2A49-BF03-5A70-B119-10B447D7A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125" y="869"/>
            <a:ext cx="10607749" cy="685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549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3D3F3D-3F16-9E73-489A-8C051418F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37" y="0"/>
            <a:ext cx="94549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996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B8D53-03C0-3179-F741-9E7F40E98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>
                <a:latin typeface="Aptos Black" panose="020B0004020202020204" pitchFamily="34" charset="0"/>
              </a:rPr>
              <a:t>Final Product</a:t>
            </a:r>
            <a:endParaRPr lang="en-US" dirty="0">
              <a:latin typeface="Aptos Black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3F2DC-5FA0-3C71-AA6E-5581E6DE9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65428" cy="4351338"/>
          </a:xfrm>
        </p:spPr>
        <p:txBody>
          <a:bodyPr/>
          <a:lstStyle/>
          <a:p>
            <a:r>
              <a:rPr lang="nb-NO" dirty="0"/>
              <a:t>Screen </a:t>
            </a:r>
            <a:r>
              <a:rPr lang="nb-NO" dirty="0" err="1"/>
              <a:t>says</a:t>
            </a:r>
            <a:r>
              <a:rPr lang="nb-NO" dirty="0"/>
              <a:t> ON / OFF</a:t>
            </a:r>
          </a:p>
          <a:p>
            <a:r>
              <a:rPr lang="nb-NO" dirty="0"/>
              <a:t>Writes to SD Card</a:t>
            </a:r>
          </a:p>
          <a:p>
            <a:r>
              <a:rPr lang="nb-NO" dirty="0"/>
              <a:t>Removable </a:t>
            </a:r>
            <a:r>
              <a:rPr lang="nb-NO" dirty="0" err="1"/>
              <a:t>Mechanism</a:t>
            </a:r>
            <a:endParaRPr lang="nb-NO" dirty="0"/>
          </a:p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A451460-D0CF-AD98-7A89-E3DF9549A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1339" y="1392312"/>
            <a:ext cx="6407350" cy="4784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933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611C53-B622-A910-6635-D63E20F7EEF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499" b="14499"/>
          <a:stretch/>
        </p:blipFill>
        <p:spPr>
          <a:xfrm>
            <a:off x="0" y="868585"/>
            <a:ext cx="12192000" cy="512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364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220DB-CBF8-46DD-EA8F-08893F28C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sz="5400" dirty="0">
                <a:latin typeface="Aptos Black" panose="020B0004020202020204" pitchFamily="34" charset="0"/>
              </a:rPr>
              <a:t>Testing</a:t>
            </a:r>
            <a:endParaRPr lang="en-US" dirty="0">
              <a:latin typeface="Aptos Black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DC60F-63A0-BB61-B632-3D2083927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41874" cy="4234933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nb-NO" dirty="0">
                <a:latin typeface="Aptos Black" panose="020B0004020202020204" pitchFamily="34" charset="0"/>
              </a:rPr>
              <a:t>How </a:t>
            </a:r>
            <a:r>
              <a:rPr lang="nb-NO" dirty="0" err="1">
                <a:latin typeface="Aptos Black" panose="020B0004020202020204" pitchFamily="34" charset="0"/>
              </a:rPr>
              <a:t>will</a:t>
            </a:r>
            <a:r>
              <a:rPr lang="nb-NO" dirty="0">
                <a:latin typeface="Aptos Black" panose="020B0004020202020204" pitchFamily="34" charset="0"/>
              </a:rPr>
              <a:t> </a:t>
            </a:r>
            <a:r>
              <a:rPr lang="nb-NO" dirty="0" err="1">
                <a:latin typeface="Aptos Black" panose="020B0004020202020204" pitchFamily="34" charset="0"/>
              </a:rPr>
              <a:t>we</a:t>
            </a:r>
            <a:r>
              <a:rPr lang="nb-NO" dirty="0">
                <a:latin typeface="Aptos Black" panose="020B0004020202020204" pitchFamily="34" charset="0"/>
              </a:rPr>
              <a:t> test?</a:t>
            </a:r>
          </a:p>
          <a:p>
            <a:pPr>
              <a:lnSpc>
                <a:spcPct val="200000"/>
              </a:lnSpc>
            </a:pPr>
            <a:r>
              <a:rPr lang="nb-NO" dirty="0" err="1">
                <a:latin typeface="Aptos Black" panose="020B0004020202020204" pitchFamily="34" charset="0"/>
              </a:rPr>
              <a:t>Temprature</a:t>
            </a:r>
            <a:r>
              <a:rPr lang="nb-NO" dirty="0">
                <a:latin typeface="Aptos Black" panose="020B0004020202020204" pitchFamily="34" charset="0"/>
              </a:rPr>
              <a:t> </a:t>
            </a:r>
            <a:r>
              <a:rPr lang="nb-NO" dirty="0" err="1">
                <a:latin typeface="Aptos Black" panose="020B0004020202020204" pitchFamily="34" charset="0"/>
              </a:rPr>
              <a:t>calibration</a:t>
            </a:r>
            <a:endParaRPr lang="nb-NO" dirty="0">
              <a:latin typeface="Aptos Black" panose="020B00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nb-NO" dirty="0">
                <a:latin typeface="Aptos Black" panose="020B0004020202020204" pitchFamily="34" charset="0"/>
              </a:rPr>
              <a:t>SD Card </a:t>
            </a:r>
            <a:r>
              <a:rPr lang="nb-NO" dirty="0" err="1">
                <a:latin typeface="Aptos Black" panose="020B0004020202020204" pitchFamily="34" charset="0"/>
              </a:rPr>
              <a:t>graphs</a:t>
            </a:r>
            <a:endParaRPr lang="en-US" dirty="0">
              <a:latin typeface="Aptos Black" panose="020B00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dirty="0">
                <a:latin typeface="Aptos Black" panose="020B0004020202020204" pitchFamily="34" charset="0"/>
              </a:rPr>
              <a:t> Block design </a:t>
            </a:r>
            <a:endParaRPr lang="nb-NO" dirty="0">
              <a:latin typeface="Aptos Black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7331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EFF52-9942-195D-3272-D9A01A596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>
                <a:latin typeface="Aptos Black" panose="020B0004020202020204" pitchFamily="34" charset="0"/>
              </a:rPr>
              <a:t>Future</a:t>
            </a:r>
            <a:r>
              <a:rPr lang="nb-NO" dirty="0">
                <a:latin typeface="Aptos Black" panose="020B0004020202020204" pitchFamily="34" charset="0"/>
              </a:rPr>
              <a:t> </a:t>
            </a:r>
            <a:r>
              <a:rPr lang="nb-NO" dirty="0" err="1">
                <a:latin typeface="Aptos Black" panose="020B0004020202020204" pitchFamily="34" charset="0"/>
              </a:rPr>
              <a:t>Work</a:t>
            </a:r>
            <a:endParaRPr lang="en-US" dirty="0">
              <a:latin typeface="Aptos Black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E0146-DFD3-48B8-35BF-59494052F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82386" cy="3788366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nb-NO" dirty="0" err="1">
                <a:latin typeface="Aptos Black" panose="020B0004020202020204" pitchFamily="34" charset="0"/>
              </a:rPr>
              <a:t>WiFi</a:t>
            </a:r>
            <a:endParaRPr lang="nb-NO" dirty="0">
              <a:latin typeface="Aptos Black" panose="020B00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nb-NO" dirty="0">
                <a:latin typeface="Aptos Black" panose="020B0004020202020204" pitchFamily="34" charset="0"/>
              </a:rPr>
              <a:t>Sensor </a:t>
            </a:r>
            <a:r>
              <a:rPr lang="nb-NO" dirty="0" err="1">
                <a:latin typeface="Aptos Black" panose="020B0004020202020204" pitchFamily="34" charset="0"/>
              </a:rPr>
              <a:t>Fusion</a:t>
            </a:r>
            <a:endParaRPr lang="nb-NO" dirty="0">
              <a:latin typeface="Aptos Black" panose="020B00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nb-NO" dirty="0">
                <a:latin typeface="Aptos Black" panose="020B0004020202020204" pitchFamily="34" charset="0"/>
              </a:rPr>
              <a:t>Battery</a:t>
            </a:r>
          </a:p>
          <a:p>
            <a:endParaRPr lang="nb-NO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1686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87F2C-01A7-F0B0-1FDC-E632CADA7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Sources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39C29-80C7-CA60-39FD-BCE4C3D4E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err="1"/>
              <a:t>Orfit</a:t>
            </a:r>
            <a:r>
              <a:rPr lang="nb-NO" dirty="0"/>
              <a:t>, 2018, The </a:t>
            </a:r>
            <a:r>
              <a:rPr lang="nb-NO" dirty="0" err="1"/>
              <a:t>Circumferential</a:t>
            </a:r>
            <a:r>
              <a:rPr lang="nb-NO" dirty="0"/>
              <a:t> </a:t>
            </a:r>
            <a:r>
              <a:rPr lang="nb-NO" dirty="0" err="1"/>
              <a:t>Wrist</a:t>
            </a:r>
            <a:r>
              <a:rPr lang="nb-NO" dirty="0"/>
              <a:t> </a:t>
            </a:r>
            <a:r>
              <a:rPr lang="nb-NO" dirty="0" err="1"/>
              <a:t>Orthosis</a:t>
            </a:r>
            <a:r>
              <a:rPr lang="nb-NO" dirty="0"/>
              <a:t>, </a:t>
            </a:r>
            <a:r>
              <a:rPr lang="nb-NO" dirty="0">
                <a:hlinkClick r:id="rId2"/>
              </a:rPr>
              <a:t>https://www.orfit.com/physical-rehabilitation/blog/splint-in-the-spotlight-the-circumferential-wrist-orthosis-</a:t>
            </a:r>
            <a:endParaRPr lang="nb-NO" dirty="0"/>
          </a:p>
          <a:p>
            <a:r>
              <a:rPr lang="nb-NO" dirty="0" err="1"/>
              <a:t>Zoho</a:t>
            </a:r>
            <a:r>
              <a:rPr lang="nb-NO" dirty="0"/>
              <a:t>, 2019, 10 </a:t>
            </a:r>
            <a:r>
              <a:rPr lang="nb-NO" dirty="0" err="1"/>
              <a:t>Reasons</a:t>
            </a:r>
            <a:r>
              <a:rPr lang="nb-NO" dirty="0"/>
              <a:t> </a:t>
            </a:r>
            <a:r>
              <a:rPr lang="nb-NO" dirty="0" err="1"/>
              <a:t>Why</a:t>
            </a:r>
            <a:r>
              <a:rPr lang="nb-NO" dirty="0"/>
              <a:t> Time </a:t>
            </a:r>
            <a:r>
              <a:rPr lang="nb-NO" dirty="0" err="1"/>
              <a:t>Tracking</a:t>
            </a:r>
            <a:r>
              <a:rPr lang="nb-NO" dirty="0"/>
              <a:t> Matters, </a:t>
            </a:r>
            <a:r>
              <a:rPr lang="nb-NO" dirty="0">
                <a:hlinkClick r:id="rId3"/>
              </a:rPr>
              <a:t>https://www.zoho.com/blog/invoice/10-reasons-tracking-time-matters.html</a:t>
            </a:r>
            <a:endParaRPr lang="nb-NO" dirty="0"/>
          </a:p>
          <a:p>
            <a:pPr fontAlgn="base"/>
            <a:r>
              <a:rPr lang="en-US" dirty="0">
                <a:effectLst/>
                <a:latin typeface="inherit"/>
              </a:rPr>
              <a:t>Research Methods, Study-Aids, 2012,</a:t>
            </a:r>
            <a:r>
              <a:rPr lang="nb-NO" dirty="0"/>
              <a:t> </a:t>
            </a:r>
            <a:r>
              <a:rPr lang="nb-NO" dirty="0">
                <a:hlinkClick r:id="rId4"/>
              </a:rPr>
              <a:t>https://study-aids.co.uk/dissertation-blog/research-methods/</a:t>
            </a:r>
            <a:r>
              <a:rPr lang="nb-NO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931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BAAC7A8B0738B4D863A477CC5324BE1" ma:contentTypeVersion="12" ma:contentTypeDescription="Opprett et nytt dokument." ma:contentTypeScope="" ma:versionID="eab4a8a3949a1fc9a558f0a75c744ee4">
  <xsd:schema xmlns:xsd="http://www.w3.org/2001/XMLSchema" xmlns:xs="http://www.w3.org/2001/XMLSchema" xmlns:p="http://schemas.microsoft.com/office/2006/metadata/properties" xmlns:ns3="fe4b6236-a82d-498f-b3a0-8ec5a712e657" xmlns:ns4="ded90ac1-a4d9-41a4-9a4e-3cccd3878c60" targetNamespace="http://schemas.microsoft.com/office/2006/metadata/properties" ma:root="true" ma:fieldsID="f7a746de3264258785a79a1e4a2d7a84" ns3:_="" ns4:_="">
    <xsd:import namespace="fe4b6236-a82d-498f-b3a0-8ec5a712e657"/>
    <xsd:import namespace="ded90ac1-a4d9-41a4-9a4e-3cccd3878c60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4b6236-a82d-498f-b3a0-8ec5a712e657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d90ac1-a4d9-41a4-9a4e-3cccd3878c60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Hash for deling av tips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e4b6236-a82d-498f-b3a0-8ec5a712e657" xsi:nil="true"/>
  </documentManagement>
</p:properties>
</file>

<file path=customXml/itemProps1.xml><?xml version="1.0" encoding="utf-8"?>
<ds:datastoreItem xmlns:ds="http://schemas.openxmlformats.org/officeDocument/2006/customXml" ds:itemID="{3DA4FE35-5AA5-4964-A8DB-72E0C92D4D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e4b6236-a82d-498f-b3a0-8ec5a712e657"/>
    <ds:schemaRef ds:uri="ded90ac1-a4d9-41a4-9a4e-3cccd3878c6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F649699-3AE6-4B64-B08D-1E9FE62DEBA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53E9322-97A6-4EB4-A628-FC43B9B6C71F}">
  <ds:schemaRefs>
    <ds:schemaRef ds:uri="http://schemas.microsoft.com/office/2006/metadata/properties"/>
    <ds:schemaRef ds:uri="fe4b6236-a82d-498f-b3a0-8ec5a712e657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infopath/2007/PartnerControls"/>
    <ds:schemaRef ds:uri="ded90ac1-a4d9-41a4-9a4e-3cccd3878c6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185</TotalTime>
  <Words>376</Words>
  <Application>Microsoft Office PowerPoint</Application>
  <PresentationFormat>Widescreen</PresentationFormat>
  <Paragraphs>97</Paragraphs>
  <Slides>18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Black</vt:lpstr>
      <vt:lpstr>Aptos Display</vt:lpstr>
      <vt:lpstr>Arial</vt:lpstr>
      <vt:lpstr>inherit</vt:lpstr>
      <vt:lpstr>Office Theme</vt:lpstr>
      <vt:lpstr>Compliance Monitoring Orthosis</vt:lpstr>
      <vt:lpstr>PowerPoint Presentation</vt:lpstr>
      <vt:lpstr>Compliance Monitroing</vt:lpstr>
      <vt:lpstr>PowerPoint Presentation</vt:lpstr>
      <vt:lpstr>PowerPoint Presentation</vt:lpstr>
      <vt:lpstr>Methodology</vt:lpstr>
      <vt:lpstr>3D SCANNING</vt:lpstr>
      <vt:lpstr>PowerPoint Presentation</vt:lpstr>
      <vt:lpstr>PowerPoint Presentation</vt:lpstr>
      <vt:lpstr>PowerPoint Presentation</vt:lpstr>
      <vt:lpstr>Electronics</vt:lpstr>
      <vt:lpstr>PowerPoint Presentation</vt:lpstr>
      <vt:lpstr>PowerPoint Presentation</vt:lpstr>
      <vt:lpstr>Final Product</vt:lpstr>
      <vt:lpstr>PowerPoint Presentation</vt:lpstr>
      <vt:lpstr>Testing</vt:lpstr>
      <vt:lpstr>Future Work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Adam Emile Aske</dc:creator>
  <cp:lastModifiedBy>Adam Emile Aske</cp:lastModifiedBy>
  <cp:revision>2</cp:revision>
  <dcterms:created xsi:type="dcterms:W3CDTF">2024-05-07T10:02:09Z</dcterms:created>
  <dcterms:modified xsi:type="dcterms:W3CDTF">2024-05-07T13:07:19Z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0x0101004BAAC7A8B0738B4D863A477CC5324BE1</vt:lpwstr>
  </property>
</Properties>
</file>